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59" r:id="rId4"/>
    <p:sldId id="280" r:id="rId5"/>
    <p:sldId id="258" r:id="rId6"/>
    <p:sldId id="260" r:id="rId7"/>
    <p:sldId id="261" r:id="rId8"/>
    <p:sldId id="262" r:id="rId9"/>
    <p:sldId id="263" r:id="rId10"/>
    <p:sldId id="265" r:id="rId11"/>
    <p:sldId id="264" r:id="rId12"/>
    <p:sldId id="274" r:id="rId13"/>
    <p:sldId id="266" r:id="rId14"/>
    <p:sldId id="267" r:id="rId15"/>
    <p:sldId id="268" r:id="rId16"/>
    <p:sldId id="269" r:id="rId17"/>
    <p:sldId id="270" r:id="rId18"/>
    <p:sldId id="271" r:id="rId19"/>
    <p:sldId id="272" r:id="rId20"/>
    <p:sldId id="273" r:id="rId21"/>
    <p:sldId id="275" r:id="rId22"/>
    <p:sldId id="276" r:id="rId23"/>
    <p:sldId id="277" r:id="rId24"/>
    <p:sldId id="278" r:id="rId25"/>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4624" autoAdjust="0"/>
  </p:normalViewPr>
  <p:slideViewPr>
    <p:cSldViewPr>
      <p:cViewPr varScale="1">
        <p:scale>
          <a:sx n="78" d="100"/>
          <a:sy n="78" d="100"/>
        </p:scale>
        <p:origin x="878"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Üstbilgi Yer Tutucusu"/>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2 Veri Yer Tutucusu"/>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5347AED-2AE8-4403-9AE9-BDC8229DFD66}" type="datetimeFigureOut">
              <a:rPr lang="tr-TR" smtClean="0"/>
              <a:pPr/>
              <a:t>2.10.2024</a:t>
            </a:fld>
            <a:endParaRPr lang="tr-TR"/>
          </a:p>
        </p:txBody>
      </p:sp>
      <p:sp>
        <p:nvSpPr>
          <p:cNvPr id="4" name="3 Slayt Görüntüsü Yer Tutucusu"/>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4 Not Yer Tutucusu"/>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6" name="5 Altbilgi Yer Tutucusu"/>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6 Slayt Numarası Yer Tutucusu"/>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AF7896F-3F6C-477B-BDE8-626DA516C5EB}" type="slidenum">
              <a:rPr lang="tr-TR" smtClean="0"/>
              <a:pPr/>
              <a:t>‹#›</a:t>
            </a:fld>
            <a:endParaRPr lang="tr-T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r>
              <a:rPr lang="tr-TR" dirty="0"/>
              <a:t>Windows </a:t>
            </a:r>
            <a:r>
              <a:rPr lang="tr-TR" dirty="0" err="1"/>
              <a:t>host</a:t>
            </a:r>
            <a:r>
              <a:rPr lang="tr-TR" dirty="0"/>
              <a:t> ve </a:t>
            </a:r>
            <a:r>
              <a:rPr lang="tr-TR" dirty="0" err="1"/>
              <a:t>extension</a:t>
            </a:r>
            <a:r>
              <a:rPr lang="tr-TR" dirty="0"/>
              <a:t> </a:t>
            </a:r>
            <a:r>
              <a:rPr lang="tr-TR" dirty="0" err="1"/>
              <a:t>pact</a:t>
            </a:r>
            <a:r>
              <a:rPr lang="tr-TR" dirty="0"/>
              <a:t> indirilecek.</a:t>
            </a:r>
          </a:p>
        </p:txBody>
      </p:sp>
      <p:sp>
        <p:nvSpPr>
          <p:cNvPr id="4" name="3 Slayt Numarası Yer Tutucusu"/>
          <p:cNvSpPr>
            <a:spLocks noGrp="1"/>
          </p:cNvSpPr>
          <p:nvPr>
            <p:ph type="sldNum" sz="quarter" idx="10"/>
          </p:nvPr>
        </p:nvSpPr>
        <p:spPr/>
        <p:txBody>
          <a:bodyPr/>
          <a:lstStyle/>
          <a:p>
            <a:fld id="{1AF7896F-3F6C-477B-BDE8-626DA516C5EB}" type="slidenum">
              <a:rPr lang="tr-TR" smtClean="0"/>
              <a:pPr/>
              <a:t>7</a:t>
            </a:fld>
            <a:endParaRPr lang="tr-T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r>
              <a:rPr lang="tr-TR" dirty="0"/>
              <a:t>Not: Ben </a:t>
            </a:r>
            <a:r>
              <a:rPr lang="tr-TR" dirty="0" err="1"/>
              <a:t>kali</a:t>
            </a:r>
            <a:r>
              <a:rPr lang="tr-TR" dirty="0"/>
              <a:t> </a:t>
            </a:r>
            <a:r>
              <a:rPr lang="tr-TR" dirty="0" err="1"/>
              <a:t>windows</a:t>
            </a:r>
            <a:r>
              <a:rPr lang="tr-TR" dirty="0"/>
              <a:t> ve ilerde göreceğimiz bir sunucuyu yüklediğimden sol taraf dolu sizde orası boş gelecek.</a:t>
            </a:r>
          </a:p>
        </p:txBody>
      </p:sp>
      <p:sp>
        <p:nvSpPr>
          <p:cNvPr id="4" name="3 Slayt Numarası Yer Tutucusu"/>
          <p:cNvSpPr>
            <a:spLocks noGrp="1"/>
          </p:cNvSpPr>
          <p:nvPr>
            <p:ph type="sldNum" sz="quarter" idx="10"/>
          </p:nvPr>
        </p:nvSpPr>
        <p:spPr/>
        <p:txBody>
          <a:bodyPr/>
          <a:lstStyle/>
          <a:p>
            <a:fld id="{1AF7896F-3F6C-477B-BDE8-626DA516C5EB}" type="slidenum">
              <a:rPr lang="tr-TR" smtClean="0"/>
              <a:pPr/>
              <a:t>9</a:t>
            </a:fld>
            <a:endParaRPr lang="tr-T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r>
              <a:rPr lang="tr-TR" dirty="0" err="1"/>
              <a:t>Tools</a:t>
            </a:r>
            <a:r>
              <a:rPr lang="tr-TR" dirty="0"/>
              <a:t> network kısmına</a:t>
            </a:r>
            <a:r>
              <a:rPr lang="tr-TR" baseline="0" dirty="0"/>
              <a:t> gidip </a:t>
            </a:r>
            <a:r>
              <a:rPr lang="tr-TR" baseline="0" dirty="0" err="1"/>
              <a:t>nat</a:t>
            </a:r>
            <a:r>
              <a:rPr lang="tr-TR" baseline="0" dirty="0"/>
              <a:t> network eklenecek</a:t>
            </a:r>
            <a:endParaRPr lang="tr-TR" dirty="0"/>
          </a:p>
        </p:txBody>
      </p:sp>
      <p:sp>
        <p:nvSpPr>
          <p:cNvPr id="4" name="3 Slayt Numarası Yer Tutucusu"/>
          <p:cNvSpPr>
            <a:spLocks noGrp="1"/>
          </p:cNvSpPr>
          <p:nvPr>
            <p:ph type="sldNum" sz="quarter" idx="10"/>
          </p:nvPr>
        </p:nvSpPr>
        <p:spPr/>
        <p:txBody>
          <a:bodyPr/>
          <a:lstStyle/>
          <a:p>
            <a:fld id="{1AF7896F-3F6C-477B-BDE8-626DA516C5EB}" type="slidenum">
              <a:rPr lang="tr-TR" smtClean="0"/>
              <a:pPr/>
              <a:t>11</a:t>
            </a:fld>
            <a:endParaRPr lang="tr-T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r>
              <a:rPr lang="tr-TR" dirty="0" err="1"/>
              <a:t>Tools</a:t>
            </a:r>
            <a:r>
              <a:rPr lang="tr-TR" dirty="0"/>
              <a:t> network kısmına</a:t>
            </a:r>
            <a:r>
              <a:rPr lang="tr-TR" baseline="0" dirty="0"/>
              <a:t> gidip </a:t>
            </a:r>
            <a:r>
              <a:rPr lang="tr-TR" baseline="0" dirty="0" err="1"/>
              <a:t>nat</a:t>
            </a:r>
            <a:r>
              <a:rPr lang="tr-TR" baseline="0" dirty="0"/>
              <a:t> network eklenecek</a:t>
            </a:r>
            <a:endParaRPr lang="tr-TR" dirty="0"/>
          </a:p>
        </p:txBody>
      </p:sp>
      <p:sp>
        <p:nvSpPr>
          <p:cNvPr id="4" name="3 Slayt Numarası Yer Tutucusu"/>
          <p:cNvSpPr>
            <a:spLocks noGrp="1"/>
          </p:cNvSpPr>
          <p:nvPr>
            <p:ph type="sldNum" sz="quarter" idx="10"/>
          </p:nvPr>
        </p:nvSpPr>
        <p:spPr/>
        <p:txBody>
          <a:bodyPr/>
          <a:lstStyle/>
          <a:p>
            <a:fld id="{1AF7896F-3F6C-477B-BDE8-626DA516C5EB}" type="slidenum">
              <a:rPr lang="tr-TR" smtClean="0"/>
              <a:pPr/>
              <a:t>12</a:t>
            </a:fld>
            <a:endParaRPr lang="tr-T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2130425"/>
            <a:ext cx="7772400" cy="1470025"/>
          </a:xfrm>
        </p:spPr>
        <p:txBody>
          <a:bodyPr/>
          <a:lstStyle/>
          <a:p>
            <a:r>
              <a:rPr lang="tr-TR"/>
              <a:t>Asıl başlık stili için tıklatın</a:t>
            </a:r>
          </a:p>
        </p:txBody>
      </p:sp>
      <p:sp>
        <p:nvSpPr>
          <p:cNvPr id="3" name="2 Alt Başlık"/>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tıklatın</a:t>
            </a:r>
          </a:p>
        </p:txBody>
      </p:sp>
      <p:sp>
        <p:nvSpPr>
          <p:cNvPr id="4" name="3 Veri Yer Tutucusu"/>
          <p:cNvSpPr>
            <a:spLocks noGrp="1"/>
          </p:cNvSpPr>
          <p:nvPr>
            <p:ph type="dt" sz="half" idx="10"/>
          </p:nvPr>
        </p:nvSpPr>
        <p:spPr/>
        <p:txBody>
          <a:bodyPr/>
          <a:lstStyle/>
          <a:p>
            <a:fld id="{D9F75050-0E15-4C5B-92B0-66D068882F1F}" type="datetimeFigureOut">
              <a:rPr lang="tr-TR" smtClean="0"/>
              <a:pPr/>
              <a:t>2.10.2024</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10"/>
          </p:nvPr>
        </p:nvSpPr>
        <p:spPr/>
        <p:txBody>
          <a:bodyPr/>
          <a:lstStyle/>
          <a:p>
            <a:fld id="{D9F75050-0E15-4C5B-92B0-66D068882F1F}" type="datetimeFigureOut">
              <a:rPr lang="tr-TR" smtClean="0"/>
              <a:pPr/>
              <a:t>2.10.2024</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a:t>Asıl başlık stili için tıklatın</a:t>
            </a: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tıklatın</a:t>
            </a:r>
          </a:p>
        </p:txBody>
      </p:sp>
      <p:sp>
        <p:nvSpPr>
          <p:cNvPr id="4" name="3 Veri Yer Tutucusu"/>
          <p:cNvSpPr>
            <a:spLocks noGrp="1"/>
          </p:cNvSpPr>
          <p:nvPr>
            <p:ph type="dt" sz="half" idx="10"/>
          </p:nvPr>
        </p:nvSpPr>
        <p:spPr/>
        <p:txBody>
          <a:bodyPr/>
          <a:lstStyle/>
          <a:p>
            <a:fld id="{D9F75050-0E15-4C5B-92B0-66D068882F1F}" type="datetimeFigureOut">
              <a:rPr lang="tr-TR" smtClean="0"/>
              <a:pPr/>
              <a:t>2.10.2024</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İçerik Yer Tutucusu"/>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Veri Yer Tutucusu"/>
          <p:cNvSpPr>
            <a:spLocks noGrp="1"/>
          </p:cNvSpPr>
          <p:nvPr>
            <p:ph type="dt" sz="half" idx="10"/>
          </p:nvPr>
        </p:nvSpPr>
        <p:spPr/>
        <p:txBody>
          <a:bodyPr/>
          <a:lstStyle/>
          <a:p>
            <a:fld id="{D9F75050-0E15-4C5B-92B0-66D068882F1F}" type="datetimeFigureOut">
              <a:rPr lang="tr-TR" smtClean="0"/>
              <a:pPr/>
              <a:t>2.10.2024</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lvl1pPr>
              <a:defRPr/>
            </a:lvl1pPr>
          </a:lstStyle>
          <a:p>
            <a:r>
              <a:rPr lang="tr-TR"/>
              <a:t>Asıl başlık stili için tıklatın</a:t>
            </a: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6 Veri Yer Tutucusu"/>
          <p:cNvSpPr>
            <a:spLocks noGrp="1"/>
          </p:cNvSpPr>
          <p:nvPr>
            <p:ph type="dt" sz="half" idx="10"/>
          </p:nvPr>
        </p:nvSpPr>
        <p:spPr/>
        <p:txBody>
          <a:bodyPr/>
          <a:lstStyle/>
          <a:p>
            <a:fld id="{D9F75050-0E15-4C5B-92B0-66D068882F1F}" type="datetimeFigureOut">
              <a:rPr lang="tr-TR" smtClean="0"/>
              <a:pPr/>
              <a:t>2.10.2024</a:t>
            </a:fld>
            <a:endParaRPr lang="tr-TR"/>
          </a:p>
        </p:txBody>
      </p:sp>
      <p:sp>
        <p:nvSpPr>
          <p:cNvPr id="8" name="7 Altbilgi Yer Tutucusu"/>
          <p:cNvSpPr>
            <a:spLocks noGrp="1"/>
          </p:cNvSpPr>
          <p:nvPr>
            <p:ph type="ftr" sz="quarter" idx="11"/>
          </p:nvPr>
        </p:nvSpPr>
        <p:spPr/>
        <p:txBody>
          <a:bodyPr/>
          <a:lstStyle/>
          <a:p>
            <a:endParaRPr lang="tr-TR"/>
          </a:p>
        </p:txBody>
      </p:sp>
      <p:sp>
        <p:nvSpPr>
          <p:cNvPr id="9" name="8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Veri Yer Tutucusu"/>
          <p:cNvSpPr>
            <a:spLocks noGrp="1"/>
          </p:cNvSpPr>
          <p:nvPr>
            <p:ph type="dt" sz="half" idx="10"/>
          </p:nvPr>
        </p:nvSpPr>
        <p:spPr/>
        <p:txBody>
          <a:bodyPr/>
          <a:lstStyle/>
          <a:p>
            <a:fld id="{D9F75050-0E15-4C5B-92B0-66D068882F1F}" type="datetimeFigureOut">
              <a:rPr lang="tr-TR" smtClean="0"/>
              <a:pPr/>
              <a:t>2.10.2024</a:t>
            </a:fld>
            <a:endParaRPr lang="tr-TR"/>
          </a:p>
        </p:txBody>
      </p:sp>
      <p:sp>
        <p:nvSpPr>
          <p:cNvPr id="4" name="3 Altbilgi Yer Tutucusu"/>
          <p:cNvSpPr>
            <a:spLocks noGrp="1"/>
          </p:cNvSpPr>
          <p:nvPr>
            <p:ph type="ftr" sz="quarter" idx="11"/>
          </p:nvPr>
        </p:nvSpPr>
        <p:spPr/>
        <p:txBody>
          <a:bodyPr/>
          <a:lstStyle/>
          <a:p>
            <a:endParaRPr lang="tr-TR"/>
          </a:p>
        </p:txBody>
      </p:sp>
      <p:sp>
        <p:nvSpPr>
          <p:cNvPr id="5" name="4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Veri Yer Tutucusu"/>
          <p:cNvSpPr>
            <a:spLocks noGrp="1"/>
          </p:cNvSpPr>
          <p:nvPr>
            <p:ph type="dt" sz="half" idx="10"/>
          </p:nvPr>
        </p:nvSpPr>
        <p:spPr/>
        <p:txBody>
          <a:bodyPr/>
          <a:lstStyle/>
          <a:p>
            <a:fld id="{D9F75050-0E15-4C5B-92B0-66D068882F1F}" type="datetimeFigureOut">
              <a:rPr lang="tr-TR" smtClean="0"/>
              <a:pPr/>
              <a:t>2.10.2024</a:t>
            </a:fld>
            <a:endParaRPr lang="tr-TR"/>
          </a:p>
        </p:txBody>
      </p:sp>
      <p:sp>
        <p:nvSpPr>
          <p:cNvPr id="3" name="2 Altbilgi Yer Tutucusu"/>
          <p:cNvSpPr>
            <a:spLocks noGrp="1"/>
          </p:cNvSpPr>
          <p:nvPr>
            <p:ph type="ftr" sz="quarter" idx="11"/>
          </p:nvPr>
        </p:nvSpPr>
        <p:spPr/>
        <p:txBody>
          <a:bodyPr/>
          <a:lstStyle/>
          <a:p>
            <a:endParaRPr lang="tr-TR"/>
          </a:p>
        </p:txBody>
      </p:sp>
      <p:sp>
        <p:nvSpPr>
          <p:cNvPr id="4" name="3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a:t>Asıl başlık stili için tıklatın</a:t>
            </a: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4 Veri Yer Tutucusu"/>
          <p:cNvSpPr>
            <a:spLocks noGrp="1"/>
          </p:cNvSpPr>
          <p:nvPr>
            <p:ph type="dt" sz="half" idx="10"/>
          </p:nvPr>
        </p:nvSpPr>
        <p:spPr/>
        <p:txBody>
          <a:bodyPr/>
          <a:lstStyle/>
          <a:p>
            <a:fld id="{D9F75050-0E15-4C5B-92B0-66D068882F1F}" type="datetimeFigureOut">
              <a:rPr lang="tr-TR" smtClean="0"/>
              <a:pPr/>
              <a:t>2.10.2024</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a:t>Asıl başlık stili için tıklatın</a:t>
            </a: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4 Veri Yer Tutucusu"/>
          <p:cNvSpPr>
            <a:spLocks noGrp="1"/>
          </p:cNvSpPr>
          <p:nvPr>
            <p:ph type="dt" sz="half" idx="10"/>
          </p:nvPr>
        </p:nvSpPr>
        <p:spPr/>
        <p:txBody>
          <a:bodyPr/>
          <a:lstStyle/>
          <a:p>
            <a:fld id="{D9F75050-0E15-4C5B-92B0-66D068882F1F}" type="datetimeFigureOut">
              <a:rPr lang="tr-TR" smtClean="0"/>
              <a:pPr/>
              <a:t>2.10.2024</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Dikey Metin Yer Tutucusu"/>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10"/>
          </p:nvPr>
        </p:nvSpPr>
        <p:spPr/>
        <p:txBody>
          <a:bodyPr/>
          <a:lstStyle/>
          <a:p>
            <a:fld id="{D9F75050-0E15-4C5B-92B0-66D068882F1F}" type="datetimeFigureOut">
              <a:rPr lang="tr-TR" smtClean="0"/>
              <a:pPr/>
              <a:t>2.10.2024</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8"/>
            <a:ext cx="2057400" cy="5851525"/>
          </a:xfrm>
        </p:spPr>
        <p:txBody>
          <a:bodyPr vert="eaVert"/>
          <a:lstStyle/>
          <a:p>
            <a:r>
              <a:rPr lang="tr-TR"/>
              <a:t>Asıl başlık stili için tıklatın</a:t>
            </a:r>
          </a:p>
        </p:txBody>
      </p:sp>
      <p:sp>
        <p:nvSpPr>
          <p:cNvPr id="3" name="2 Dikey Metin Yer Tutucusu"/>
          <p:cNvSpPr>
            <a:spLocks noGrp="1"/>
          </p:cNvSpPr>
          <p:nvPr>
            <p:ph type="body" orient="vert" idx="1"/>
          </p:nvPr>
        </p:nvSpPr>
        <p:spPr>
          <a:xfrm>
            <a:off x="457200" y="274638"/>
            <a:ext cx="6019800" cy="5851525"/>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10"/>
          </p:nvPr>
        </p:nvSpPr>
        <p:spPr/>
        <p:txBody>
          <a:bodyPr/>
          <a:lstStyle/>
          <a:p>
            <a:fld id="{D9F75050-0E15-4C5B-92B0-66D068882F1F}" type="datetimeFigureOut">
              <a:rPr lang="tr-TR" smtClean="0"/>
              <a:pPr/>
              <a:t>2.10.2024</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Başlık Yer Tutucusu"/>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a:t>Asıl başlık stili için tıklatın</a:t>
            </a:r>
          </a:p>
        </p:txBody>
      </p:sp>
      <p:sp>
        <p:nvSpPr>
          <p:cNvPr id="3" name="2 Metin Yer Tutucusu"/>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F75050-0E15-4C5B-92B0-66D068882F1F}" type="datetimeFigureOut">
              <a:rPr lang="tr-TR" smtClean="0"/>
              <a:pPr/>
              <a:t>2.10.2024</a:t>
            </a:fld>
            <a:endParaRPr lang="tr-TR"/>
          </a:p>
        </p:txBody>
      </p:sp>
      <p:sp>
        <p:nvSpPr>
          <p:cNvPr id="5" name="4 Altbilgi Yer Tutucusu"/>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5 Slayt Numarası Yer Tutucusu"/>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DEFA8C-F947-479F-BE07-76B6B3F80BF1}" type="slidenum">
              <a:rPr lang="tr-TR" smtClean="0"/>
              <a:pPr/>
              <a:t>‹#›</a:t>
            </a:fld>
            <a:endParaRPr lang="tr-T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kali.org/"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p:txBody>
          <a:bodyPr/>
          <a:lstStyle/>
          <a:p>
            <a:r>
              <a:rPr lang="tr-TR" dirty="0"/>
              <a:t>Siber Güvenlik</a:t>
            </a:r>
          </a:p>
        </p:txBody>
      </p:sp>
      <p:sp>
        <p:nvSpPr>
          <p:cNvPr id="3" name="2 Alt Başlık"/>
          <p:cNvSpPr>
            <a:spLocks noGrp="1"/>
          </p:cNvSpPr>
          <p:nvPr>
            <p:ph type="subTitle" idx="1"/>
          </p:nvPr>
        </p:nvSpPr>
        <p:spPr/>
        <p:txBody>
          <a:bodyPr/>
          <a:lstStyle/>
          <a:p>
            <a:r>
              <a:rPr lang="tr-TR" dirty="0"/>
              <a:t>1.hafta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Sanal makine nedir</a:t>
            </a:r>
          </a:p>
        </p:txBody>
      </p:sp>
      <p:pic>
        <p:nvPicPr>
          <p:cNvPr id="1026" name="Picture 2"/>
          <p:cNvPicPr>
            <a:picLocks noGrp="1" noChangeAspect="1" noChangeArrowheads="1"/>
          </p:cNvPicPr>
          <p:nvPr>
            <p:ph idx="1"/>
          </p:nvPr>
        </p:nvPicPr>
        <p:blipFill>
          <a:blip r:embed="rId2"/>
          <a:srcRect/>
          <a:stretch>
            <a:fillRect/>
          </a:stretch>
        </p:blipFill>
        <p:spPr bwMode="auto">
          <a:xfrm>
            <a:off x="1743075" y="2658269"/>
            <a:ext cx="5657850" cy="2409825"/>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En yaygın sanal makineler</a:t>
            </a:r>
          </a:p>
        </p:txBody>
      </p:sp>
      <p:sp>
        <p:nvSpPr>
          <p:cNvPr id="4" name="3 İçerik Yer Tutucusu"/>
          <p:cNvSpPr>
            <a:spLocks noGrp="1"/>
          </p:cNvSpPr>
          <p:nvPr>
            <p:ph idx="1"/>
          </p:nvPr>
        </p:nvSpPr>
        <p:spPr/>
        <p:txBody>
          <a:bodyPr>
            <a:normAutofit fontScale="47500" lnSpcReduction="20000"/>
          </a:bodyPr>
          <a:lstStyle/>
          <a:p>
            <a:r>
              <a:rPr lang="tr-TR" sz="3600" b="1" dirty="0" err="1"/>
              <a:t>VMware</a:t>
            </a:r>
            <a:r>
              <a:rPr lang="tr-TR" sz="3600" b="1" dirty="0"/>
              <a:t> </a:t>
            </a:r>
            <a:r>
              <a:rPr lang="tr-TR" sz="3600" b="1" dirty="0" err="1"/>
              <a:t>Virtual</a:t>
            </a:r>
            <a:r>
              <a:rPr lang="tr-TR" sz="3600" b="1" dirty="0"/>
              <a:t> </a:t>
            </a:r>
            <a:r>
              <a:rPr lang="tr-TR" sz="3600" b="1" dirty="0" err="1"/>
              <a:t>Machine</a:t>
            </a:r>
            <a:r>
              <a:rPr lang="tr-TR" sz="3600" b="1" dirty="0"/>
              <a:t> (</a:t>
            </a:r>
            <a:r>
              <a:rPr lang="tr-TR" sz="3600" b="1" dirty="0" err="1"/>
              <a:t>VMware</a:t>
            </a:r>
            <a:r>
              <a:rPr lang="tr-TR" sz="3600" b="1" dirty="0"/>
              <a:t> VM):</a:t>
            </a:r>
            <a:r>
              <a:rPr lang="tr-TR" sz="3600" dirty="0"/>
              <a:t> </a:t>
            </a:r>
            <a:r>
              <a:rPr lang="tr-TR" sz="3600" dirty="0" err="1"/>
              <a:t>VMware</a:t>
            </a:r>
            <a:r>
              <a:rPr lang="tr-TR" sz="3600" dirty="0"/>
              <a:t>, sanallaştırma alanında önde gelen şirketlerden biridir. </a:t>
            </a:r>
            <a:r>
              <a:rPr lang="tr-TR" sz="3600" dirty="0" err="1"/>
              <a:t>VMware'nin</a:t>
            </a:r>
            <a:r>
              <a:rPr lang="tr-TR" sz="3600" dirty="0"/>
              <a:t> sanal makineleri popülerdir ve </a:t>
            </a:r>
            <a:r>
              <a:rPr lang="tr-TR" sz="3600" dirty="0" err="1"/>
              <a:t>VMware</a:t>
            </a:r>
            <a:r>
              <a:rPr lang="tr-TR" sz="3600" dirty="0"/>
              <a:t> Workstation, </a:t>
            </a:r>
            <a:r>
              <a:rPr lang="tr-TR" sz="3600" dirty="0" err="1"/>
              <a:t>VMware</a:t>
            </a:r>
            <a:r>
              <a:rPr lang="tr-TR" sz="3600" dirty="0"/>
              <a:t> </a:t>
            </a:r>
            <a:r>
              <a:rPr lang="tr-TR" sz="3600" dirty="0" err="1"/>
              <a:t>Player</a:t>
            </a:r>
            <a:r>
              <a:rPr lang="tr-TR" sz="3600" dirty="0"/>
              <a:t> ve </a:t>
            </a:r>
            <a:r>
              <a:rPr lang="tr-TR" sz="3600" dirty="0" err="1"/>
              <a:t>vSphere</a:t>
            </a:r>
            <a:r>
              <a:rPr lang="tr-TR" sz="3600" dirty="0"/>
              <a:t> gibi ürünleri aracılığıyla kullanılırlar.</a:t>
            </a:r>
          </a:p>
          <a:p>
            <a:r>
              <a:rPr lang="tr-TR" sz="3600" b="1" dirty="0"/>
              <a:t>Microsoft </a:t>
            </a:r>
            <a:r>
              <a:rPr lang="tr-TR" sz="3600" b="1" dirty="0" err="1"/>
              <a:t>Hyper</a:t>
            </a:r>
            <a:r>
              <a:rPr lang="tr-TR" sz="3600" b="1" dirty="0"/>
              <a:t>-V:</a:t>
            </a:r>
            <a:r>
              <a:rPr lang="tr-TR" sz="3600" dirty="0"/>
              <a:t> </a:t>
            </a:r>
            <a:r>
              <a:rPr lang="tr-TR" sz="3600" dirty="0" err="1"/>
              <a:t>Hyper</a:t>
            </a:r>
            <a:r>
              <a:rPr lang="tr-TR" sz="3600" dirty="0"/>
              <a:t>-V, Microsoft tarafından geliştirilen bir sanallaştırma platformudur. Windows Server işletim sistemlerinde ve Windows 10 </a:t>
            </a:r>
            <a:r>
              <a:rPr lang="tr-TR" sz="3600" dirty="0" err="1"/>
              <a:t>Pro</a:t>
            </a:r>
            <a:r>
              <a:rPr lang="tr-TR" sz="3600" dirty="0"/>
              <a:t>, </a:t>
            </a:r>
            <a:r>
              <a:rPr lang="tr-TR" sz="3600" dirty="0" err="1"/>
              <a:t>Enterprise</a:t>
            </a:r>
            <a:r>
              <a:rPr lang="tr-TR" sz="3600" dirty="0"/>
              <a:t> ve </a:t>
            </a:r>
            <a:r>
              <a:rPr lang="tr-TR" sz="3600" dirty="0" err="1"/>
              <a:t>Education</a:t>
            </a:r>
            <a:r>
              <a:rPr lang="tr-TR" sz="3600" dirty="0"/>
              <a:t> sürümlerinde bulunabilir. </a:t>
            </a:r>
            <a:r>
              <a:rPr lang="tr-TR" sz="3600" dirty="0" err="1"/>
              <a:t>Hyper</a:t>
            </a:r>
            <a:r>
              <a:rPr lang="tr-TR" sz="3600" dirty="0"/>
              <a:t>-V, özellikle Windows ekosistemini kullananlar için tercih edilir.</a:t>
            </a:r>
          </a:p>
          <a:p>
            <a:r>
              <a:rPr lang="tr-TR" sz="3600" b="1" dirty="0" err="1"/>
              <a:t>Oracle</a:t>
            </a:r>
            <a:r>
              <a:rPr lang="tr-TR" sz="3600" b="1" dirty="0"/>
              <a:t> </a:t>
            </a:r>
            <a:r>
              <a:rPr lang="tr-TR" sz="3600" b="1" dirty="0" err="1"/>
              <a:t>VirtualBox</a:t>
            </a:r>
            <a:r>
              <a:rPr lang="tr-TR" sz="3600" b="1" dirty="0"/>
              <a:t>: </a:t>
            </a:r>
            <a:r>
              <a:rPr lang="tr-TR" sz="3600" dirty="0" err="1"/>
              <a:t>Oracle'ın</a:t>
            </a:r>
            <a:r>
              <a:rPr lang="tr-TR" sz="3600" dirty="0"/>
              <a:t> geliştirdiği ücretsiz ve açık kaynaklı bir sanallaştırma çözümüdür. </a:t>
            </a:r>
            <a:r>
              <a:rPr lang="tr-TR" sz="3600" dirty="0" err="1"/>
              <a:t>VirtualBox</a:t>
            </a:r>
            <a:r>
              <a:rPr lang="tr-TR" sz="3600" dirty="0"/>
              <a:t>, çeşitli işletim sistemlerini destekler ve kullanımı kolay bir ara yüze sahiptir.</a:t>
            </a:r>
          </a:p>
          <a:p>
            <a:r>
              <a:rPr lang="tr-TR" sz="3600" b="1" dirty="0"/>
              <a:t>KVM (</a:t>
            </a:r>
            <a:r>
              <a:rPr lang="tr-TR" sz="3600" b="1" dirty="0" err="1"/>
              <a:t>Kernel</a:t>
            </a:r>
            <a:r>
              <a:rPr lang="tr-TR" sz="3600" b="1" dirty="0"/>
              <a:t>-</a:t>
            </a:r>
            <a:r>
              <a:rPr lang="tr-TR" sz="3600" b="1" dirty="0" err="1"/>
              <a:t>based</a:t>
            </a:r>
            <a:r>
              <a:rPr lang="tr-TR" sz="3600" b="1" dirty="0"/>
              <a:t> </a:t>
            </a:r>
            <a:r>
              <a:rPr lang="tr-TR" sz="3600" b="1" dirty="0" err="1"/>
              <a:t>Virtual</a:t>
            </a:r>
            <a:r>
              <a:rPr lang="tr-TR" sz="3600" b="1" dirty="0"/>
              <a:t> </a:t>
            </a:r>
            <a:r>
              <a:rPr lang="tr-TR" sz="3600" b="1" dirty="0" err="1"/>
              <a:t>Machine</a:t>
            </a:r>
            <a:r>
              <a:rPr lang="tr-TR" sz="3600" b="1" dirty="0"/>
              <a:t>):</a:t>
            </a:r>
            <a:r>
              <a:rPr lang="tr-TR" sz="3600" dirty="0"/>
              <a:t> KVM, Linux işletim sistemine entegre edilmiş bir sanallaştırma çözümüdür. Linux tabanlı işletim sistemlerinde kullanılabilir ve genellikle açık kaynaklı bir yaklaşımı benimser.</a:t>
            </a:r>
          </a:p>
          <a:p>
            <a:r>
              <a:rPr lang="tr-TR" sz="3600" b="1" dirty="0" err="1"/>
              <a:t>Xen</a:t>
            </a:r>
            <a:r>
              <a:rPr lang="tr-TR" sz="3600" b="1" dirty="0"/>
              <a:t>:</a:t>
            </a:r>
            <a:r>
              <a:rPr lang="tr-TR" sz="3600" dirty="0"/>
              <a:t> </a:t>
            </a:r>
            <a:r>
              <a:rPr lang="tr-TR" sz="3600" dirty="0" err="1"/>
              <a:t>Xen</a:t>
            </a:r>
            <a:r>
              <a:rPr lang="tr-TR" sz="3600" dirty="0"/>
              <a:t>, açık kaynaklı bir sanallaştırma platformudur ve özellikle bulut altyapılarında sıkça kullanılır. </a:t>
            </a:r>
            <a:r>
              <a:rPr lang="tr-TR" sz="3600" dirty="0" err="1"/>
              <a:t>Xen</a:t>
            </a:r>
            <a:r>
              <a:rPr lang="tr-TR" sz="3600" dirty="0"/>
              <a:t> </a:t>
            </a:r>
            <a:r>
              <a:rPr lang="tr-TR" sz="3600" dirty="0" err="1"/>
              <a:t>hypervisor'ü</a:t>
            </a:r>
            <a:r>
              <a:rPr lang="tr-TR" sz="3600" dirty="0"/>
              <a:t>, çeşitli işletim sistemlerini destekler.</a:t>
            </a:r>
          </a:p>
          <a:p>
            <a:endParaRPr lang="tr-T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CF4E-40A8-D433-FB05-6A6AAB1D8E4B}"/>
              </a:ext>
            </a:extLst>
          </p:cNvPr>
          <p:cNvSpPr>
            <a:spLocks noGrp="1"/>
          </p:cNvSpPr>
          <p:nvPr>
            <p:ph type="title"/>
          </p:nvPr>
        </p:nvSpPr>
        <p:spPr/>
        <p:txBody>
          <a:bodyPr/>
          <a:lstStyle/>
          <a:p>
            <a:r>
              <a:rPr lang="tr-TR" dirty="0"/>
              <a:t>Kullanacağımız VM</a:t>
            </a:r>
          </a:p>
        </p:txBody>
      </p:sp>
      <p:sp>
        <p:nvSpPr>
          <p:cNvPr id="3" name="Content Placeholder 2">
            <a:extLst>
              <a:ext uri="{FF2B5EF4-FFF2-40B4-BE49-F238E27FC236}">
                <a16:creationId xmlns:a16="http://schemas.microsoft.com/office/drawing/2014/main" id="{D5862649-2A89-D23C-8C06-08A4A229F1CC}"/>
              </a:ext>
            </a:extLst>
          </p:cNvPr>
          <p:cNvSpPr>
            <a:spLocks noGrp="1"/>
          </p:cNvSpPr>
          <p:nvPr>
            <p:ph idx="1"/>
          </p:nvPr>
        </p:nvSpPr>
        <p:spPr/>
        <p:txBody>
          <a:bodyPr/>
          <a:lstStyle/>
          <a:p>
            <a:r>
              <a:rPr lang="tr-TR" sz="3200" b="1" dirty="0"/>
              <a:t>Oracle </a:t>
            </a:r>
            <a:r>
              <a:rPr lang="tr-TR" sz="3200" b="1" dirty="0" err="1"/>
              <a:t>VirtualBox</a:t>
            </a:r>
            <a:r>
              <a:rPr lang="tr-TR" sz="3200" b="1" dirty="0"/>
              <a:t>: </a:t>
            </a:r>
            <a:r>
              <a:rPr lang="tr-TR" sz="3200" dirty="0"/>
              <a:t>Oracle'ın geliştirdiği ücretsiz ve açık kaynaklı bir sanallaştırma çözümüdür. </a:t>
            </a:r>
            <a:r>
              <a:rPr lang="tr-TR" sz="3200" dirty="0" err="1"/>
              <a:t>VirtualBox</a:t>
            </a:r>
            <a:r>
              <a:rPr lang="tr-TR" sz="3200" dirty="0"/>
              <a:t>, çeşitli işletim sistemlerini destekler ve kullanımı kolay bir ara yüze sahiptir.</a:t>
            </a:r>
          </a:p>
        </p:txBody>
      </p:sp>
    </p:spTree>
    <p:extLst>
      <p:ext uri="{BB962C8B-B14F-4D97-AF65-F5344CB8AC3E}">
        <p14:creationId xmlns:p14="http://schemas.microsoft.com/office/powerpoint/2010/main" val="519924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err="1"/>
              <a:t>Oracle</a:t>
            </a:r>
            <a:r>
              <a:rPr lang="tr-TR" b="1" dirty="0"/>
              <a:t> </a:t>
            </a:r>
            <a:r>
              <a:rPr lang="tr-TR" b="1" dirty="0" err="1"/>
              <a:t>VirtualBox</a:t>
            </a:r>
            <a:r>
              <a:rPr lang="tr-TR" b="1" dirty="0"/>
              <a:t> </a:t>
            </a:r>
            <a:r>
              <a:rPr lang="tr-TR" dirty="0"/>
              <a:t>kurulumu</a:t>
            </a:r>
          </a:p>
        </p:txBody>
      </p:sp>
      <p:sp>
        <p:nvSpPr>
          <p:cNvPr id="3" name="2 İçerik Yer Tutucusu"/>
          <p:cNvSpPr>
            <a:spLocks noGrp="1"/>
          </p:cNvSpPr>
          <p:nvPr>
            <p:ph idx="1"/>
          </p:nvPr>
        </p:nvSpPr>
        <p:spPr/>
        <p:txBody>
          <a:bodyPr/>
          <a:lstStyle/>
          <a:p>
            <a:r>
              <a:rPr lang="tr-TR" dirty="0"/>
              <a:t>https://www.virtualbox.org/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err="1"/>
              <a:t>Oracle</a:t>
            </a:r>
            <a:r>
              <a:rPr lang="tr-TR" b="1" dirty="0"/>
              <a:t> </a:t>
            </a:r>
            <a:r>
              <a:rPr lang="tr-TR" b="1" dirty="0" err="1"/>
              <a:t>VirtualBox</a:t>
            </a:r>
            <a:r>
              <a:rPr lang="tr-TR" b="1" dirty="0"/>
              <a:t> </a:t>
            </a:r>
            <a:r>
              <a:rPr lang="tr-TR" dirty="0"/>
              <a:t>kurulumu</a:t>
            </a:r>
          </a:p>
        </p:txBody>
      </p:sp>
      <p:pic>
        <p:nvPicPr>
          <p:cNvPr id="6" name="Picture 5">
            <a:extLst>
              <a:ext uri="{FF2B5EF4-FFF2-40B4-BE49-F238E27FC236}">
                <a16:creationId xmlns:a16="http://schemas.microsoft.com/office/drawing/2014/main" id="{B38AA1D5-2AC6-40EA-95D2-7C5B0DA3F6C1}"/>
              </a:ext>
            </a:extLst>
          </p:cNvPr>
          <p:cNvPicPr>
            <a:picLocks noChangeAspect="1"/>
          </p:cNvPicPr>
          <p:nvPr/>
        </p:nvPicPr>
        <p:blipFill>
          <a:blip r:embed="rId2"/>
          <a:stretch>
            <a:fillRect/>
          </a:stretch>
        </p:blipFill>
        <p:spPr>
          <a:xfrm>
            <a:off x="107504" y="1656442"/>
            <a:ext cx="9144000" cy="35451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err="1"/>
              <a:t>Oracle</a:t>
            </a:r>
            <a:r>
              <a:rPr lang="tr-TR" b="1" dirty="0"/>
              <a:t> </a:t>
            </a:r>
            <a:r>
              <a:rPr lang="tr-TR" b="1" dirty="0" err="1"/>
              <a:t>VirtualBox</a:t>
            </a:r>
            <a:r>
              <a:rPr lang="tr-TR" b="1" dirty="0"/>
              <a:t> </a:t>
            </a:r>
            <a:r>
              <a:rPr lang="tr-TR" dirty="0"/>
              <a:t>kurulumu</a:t>
            </a:r>
          </a:p>
        </p:txBody>
      </p:sp>
      <p:pic>
        <p:nvPicPr>
          <p:cNvPr id="6" name="Picture 5">
            <a:extLst>
              <a:ext uri="{FF2B5EF4-FFF2-40B4-BE49-F238E27FC236}">
                <a16:creationId xmlns:a16="http://schemas.microsoft.com/office/drawing/2014/main" id="{FE82674A-2CC7-3183-2D1C-53AE9A743E3D}"/>
              </a:ext>
            </a:extLst>
          </p:cNvPr>
          <p:cNvPicPr>
            <a:picLocks noChangeAspect="1"/>
          </p:cNvPicPr>
          <p:nvPr/>
        </p:nvPicPr>
        <p:blipFill>
          <a:blip r:embed="rId3"/>
          <a:stretch>
            <a:fillRect/>
          </a:stretch>
        </p:blipFill>
        <p:spPr>
          <a:xfrm>
            <a:off x="-29497" y="2564904"/>
            <a:ext cx="9144000" cy="20932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err="1"/>
              <a:t>Oracle</a:t>
            </a:r>
            <a:r>
              <a:rPr lang="tr-TR" b="1" dirty="0"/>
              <a:t> </a:t>
            </a:r>
            <a:r>
              <a:rPr lang="tr-TR" b="1" dirty="0" err="1"/>
              <a:t>VirtualBox</a:t>
            </a:r>
            <a:r>
              <a:rPr lang="tr-TR" b="1" dirty="0"/>
              <a:t> </a:t>
            </a:r>
            <a:r>
              <a:rPr lang="tr-TR" dirty="0"/>
              <a:t>kurulumu</a:t>
            </a:r>
          </a:p>
        </p:txBody>
      </p:sp>
      <p:sp>
        <p:nvSpPr>
          <p:cNvPr id="3" name="2 İçerik Yer Tutucusu"/>
          <p:cNvSpPr>
            <a:spLocks noGrp="1"/>
          </p:cNvSpPr>
          <p:nvPr>
            <p:ph idx="1"/>
          </p:nvPr>
        </p:nvSpPr>
        <p:spPr/>
        <p:txBody>
          <a:bodyPr/>
          <a:lstStyle/>
          <a:p>
            <a:r>
              <a:rPr lang="tr-TR" dirty="0"/>
              <a:t>C++ eklenti hatası verebiliyor nadirde olsa. İlgili paketi </a:t>
            </a:r>
            <a:r>
              <a:rPr lang="tr-TR" dirty="0" err="1"/>
              <a:t>google</a:t>
            </a:r>
            <a:r>
              <a:rPr lang="tr-TR" dirty="0"/>
              <a:t> da aratarak indirip sonra kurarsanız sorun kalmayacaktır.</a:t>
            </a:r>
          </a:p>
          <a:p>
            <a:r>
              <a:rPr lang="tr-TR" dirty="0"/>
              <a:t>Yükledikten hemen sonra </a:t>
            </a:r>
            <a:r>
              <a:rPr lang="tr-TR" dirty="0" err="1"/>
              <a:t>extension</a:t>
            </a:r>
            <a:r>
              <a:rPr lang="tr-TR" dirty="0"/>
              <a:t> </a:t>
            </a:r>
            <a:r>
              <a:rPr lang="tr-TR" dirty="0" err="1"/>
              <a:t>pactı</a:t>
            </a:r>
            <a:r>
              <a:rPr lang="tr-TR" dirty="0"/>
              <a:t> çalıştıracaksınız.</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err="1"/>
              <a:t>Oracle</a:t>
            </a:r>
            <a:r>
              <a:rPr lang="tr-TR" b="1" dirty="0"/>
              <a:t> </a:t>
            </a:r>
            <a:r>
              <a:rPr lang="tr-TR" b="1" dirty="0" err="1"/>
              <a:t>VirtualBox</a:t>
            </a:r>
            <a:r>
              <a:rPr lang="tr-TR" b="1" dirty="0"/>
              <a:t> </a:t>
            </a:r>
            <a:r>
              <a:rPr lang="tr-TR" dirty="0"/>
              <a:t>kurulumu</a:t>
            </a:r>
          </a:p>
        </p:txBody>
      </p:sp>
      <p:pic>
        <p:nvPicPr>
          <p:cNvPr id="4098" name="Picture 2"/>
          <p:cNvPicPr>
            <a:picLocks noGrp="1" noChangeAspect="1" noChangeArrowheads="1"/>
          </p:cNvPicPr>
          <p:nvPr>
            <p:ph idx="1"/>
          </p:nvPr>
        </p:nvPicPr>
        <p:blipFill>
          <a:blip r:embed="rId3"/>
          <a:srcRect/>
          <a:stretch>
            <a:fillRect/>
          </a:stretch>
        </p:blipFill>
        <p:spPr bwMode="auto">
          <a:xfrm>
            <a:off x="804862" y="2005806"/>
            <a:ext cx="7534275" cy="371475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err="1"/>
              <a:t>Oracle</a:t>
            </a:r>
            <a:r>
              <a:rPr lang="tr-TR" b="1" dirty="0"/>
              <a:t> </a:t>
            </a:r>
            <a:r>
              <a:rPr lang="tr-TR" b="1" dirty="0" err="1"/>
              <a:t>VirtualBox</a:t>
            </a:r>
            <a:r>
              <a:rPr lang="tr-TR" b="1" dirty="0"/>
              <a:t> </a:t>
            </a:r>
            <a:r>
              <a:rPr lang="tr-TR" dirty="0"/>
              <a:t>kurulumu</a:t>
            </a:r>
          </a:p>
        </p:txBody>
      </p:sp>
      <p:sp>
        <p:nvSpPr>
          <p:cNvPr id="3" name="2 İçerik Yer Tutucusu"/>
          <p:cNvSpPr>
            <a:spLocks noGrp="1"/>
          </p:cNvSpPr>
          <p:nvPr>
            <p:ph idx="1"/>
          </p:nvPr>
        </p:nvSpPr>
        <p:spPr/>
        <p:txBody>
          <a:bodyPr/>
          <a:lstStyle/>
          <a:p>
            <a:r>
              <a:rPr lang="tr-TR" dirty="0" err="1"/>
              <a:t>Tools</a:t>
            </a:r>
            <a:r>
              <a:rPr lang="tr-TR" dirty="0">
                <a:sym typeface="Wingdings" pitchFamily="2" charset="2"/>
              </a:rPr>
              <a:t></a:t>
            </a:r>
            <a:r>
              <a:rPr lang="tr-TR" dirty="0"/>
              <a:t>network kısmına gidip </a:t>
            </a:r>
            <a:r>
              <a:rPr lang="tr-TR" dirty="0" err="1"/>
              <a:t>nat</a:t>
            </a:r>
            <a:r>
              <a:rPr lang="tr-TR" dirty="0"/>
              <a:t> network eklenecek</a:t>
            </a:r>
          </a:p>
          <a:p>
            <a:endParaRPr lang="tr-TR" dirty="0"/>
          </a:p>
          <a:p>
            <a:endParaRPr lang="tr-TR" dirty="0"/>
          </a:p>
        </p:txBody>
      </p:sp>
      <p:pic>
        <p:nvPicPr>
          <p:cNvPr id="4" name="Picture 3"/>
          <p:cNvPicPr>
            <a:picLocks noChangeAspect="1" noChangeArrowheads="1"/>
          </p:cNvPicPr>
          <p:nvPr/>
        </p:nvPicPr>
        <p:blipFill>
          <a:blip r:embed="rId2"/>
          <a:srcRect/>
          <a:stretch>
            <a:fillRect/>
          </a:stretch>
        </p:blipFill>
        <p:spPr bwMode="auto">
          <a:xfrm>
            <a:off x="1071538" y="2714620"/>
            <a:ext cx="6381769" cy="3552654"/>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err="1"/>
              <a:t>Oracle</a:t>
            </a:r>
            <a:r>
              <a:rPr lang="tr-TR" b="1" dirty="0"/>
              <a:t> </a:t>
            </a:r>
            <a:r>
              <a:rPr lang="tr-TR" b="1" dirty="0" err="1"/>
              <a:t>VirtualBox</a:t>
            </a:r>
            <a:r>
              <a:rPr lang="tr-TR" b="1" dirty="0"/>
              <a:t> </a:t>
            </a:r>
            <a:r>
              <a:rPr lang="tr-TR" dirty="0"/>
              <a:t>kurulumu</a:t>
            </a:r>
          </a:p>
        </p:txBody>
      </p:sp>
      <p:pic>
        <p:nvPicPr>
          <p:cNvPr id="5123" name="Picture 3"/>
          <p:cNvPicPr>
            <a:picLocks noGrp="1" noChangeAspect="1" noChangeArrowheads="1"/>
          </p:cNvPicPr>
          <p:nvPr>
            <p:ph idx="1"/>
          </p:nvPr>
        </p:nvPicPr>
        <p:blipFill>
          <a:blip r:embed="rId3"/>
          <a:srcRect/>
          <a:stretch>
            <a:fillRect/>
          </a:stretch>
        </p:blipFill>
        <p:spPr bwMode="auto">
          <a:xfrm>
            <a:off x="833437" y="1781969"/>
            <a:ext cx="7477125" cy="4162425"/>
          </a:xfrm>
          <a:prstGeom prst="rect">
            <a:avLst/>
          </a:prstGeom>
          <a:noFill/>
          <a:ln w="9525">
            <a:noFill/>
            <a:miter lim="800000"/>
            <a:headEnd/>
            <a:tailEnd/>
          </a:ln>
          <a:effectLst/>
        </p:spPr>
      </p:pic>
      <p:sp>
        <p:nvSpPr>
          <p:cNvPr id="7" name="6 Oval"/>
          <p:cNvSpPr/>
          <p:nvPr/>
        </p:nvSpPr>
        <p:spPr>
          <a:xfrm>
            <a:off x="3643306" y="3571876"/>
            <a:ext cx="1071570" cy="428628"/>
          </a:xfrm>
          <a:prstGeom prst="ellipse">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err="1"/>
              <a:t>Oracle</a:t>
            </a:r>
            <a:r>
              <a:rPr lang="tr-TR" b="1" dirty="0"/>
              <a:t> </a:t>
            </a:r>
            <a:r>
              <a:rPr lang="tr-TR" b="1" dirty="0" err="1"/>
              <a:t>VirtualBox</a:t>
            </a:r>
            <a:r>
              <a:rPr lang="tr-TR" b="1" dirty="0"/>
              <a:t> </a:t>
            </a:r>
            <a:r>
              <a:rPr lang="tr-TR" dirty="0"/>
              <a:t>kurulumu</a:t>
            </a:r>
          </a:p>
        </p:txBody>
      </p:sp>
      <p:sp>
        <p:nvSpPr>
          <p:cNvPr id="7" name="6 Oval"/>
          <p:cNvSpPr/>
          <p:nvPr/>
        </p:nvSpPr>
        <p:spPr>
          <a:xfrm>
            <a:off x="3643306" y="3571876"/>
            <a:ext cx="1071570" cy="428628"/>
          </a:xfrm>
          <a:prstGeom prst="ellipse">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9218" name="Picture 2"/>
          <p:cNvPicPr>
            <a:picLocks noGrp="1" noChangeAspect="1" noChangeArrowheads="1"/>
          </p:cNvPicPr>
          <p:nvPr>
            <p:ph idx="1"/>
          </p:nvPr>
        </p:nvPicPr>
        <p:blipFill>
          <a:blip r:embed="rId3"/>
          <a:srcRect/>
          <a:stretch>
            <a:fillRect/>
          </a:stretch>
        </p:blipFill>
        <p:spPr bwMode="auto">
          <a:xfrm>
            <a:off x="776287" y="1762919"/>
            <a:ext cx="7591425" cy="4200525"/>
          </a:xfrm>
          <a:prstGeom prst="rect">
            <a:avLst/>
          </a:prstGeom>
          <a:noFill/>
          <a:ln w="9525">
            <a:noFill/>
            <a:miter lim="800000"/>
            <a:headEnd/>
            <a:tailEnd/>
          </a:ln>
          <a:effectLst/>
        </p:spPr>
      </p:pic>
      <p:sp>
        <p:nvSpPr>
          <p:cNvPr id="8" name="7 Oval"/>
          <p:cNvSpPr/>
          <p:nvPr/>
        </p:nvSpPr>
        <p:spPr>
          <a:xfrm>
            <a:off x="3428992" y="2143116"/>
            <a:ext cx="785818" cy="714380"/>
          </a:xfrm>
          <a:prstGeom prst="ellipse">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 name="8 Oval"/>
          <p:cNvSpPr/>
          <p:nvPr/>
        </p:nvSpPr>
        <p:spPr>
          <a:xfrm>
            <a:off x="4786314" y="2643182"/>
            <a:ext cx="857256" cy="500066"/>
          </a:xfrm>
          <a:prstGeom prst="ellipse">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Neden </a:t>
            </a:r>
            <a:r>
              <a:rPr lang="tr-TR" dirty="0" err="1"/>
              <a:t>Kali</a:t>
            </a:r>
            <a:r>
              <a:rPr lang="tr-TR" dirty="0"/>
              <a:t> Linux</a:t>
            </a:r>
          </a:p>
        </p:txBody>
      </p:sp>
      <p:sp>
        <p:nvSpPr>
          <p:cNvPr id="3" name="2 İçerik Yer Tutucusu"/>
          <p:cNvSpPr>
            <a:spLocks noGrp="1"/>
          </p:cNvSpPr>
          <p:nvPr>
            <p:ph idx="1"/>
          </p:nvPr>
        </p:nvSpPr>
        <p:spPr/>
        <p:txBody>
          <a:bodyPr>
            <a:normAutofit/>
          </a:bodyPr>
          <a:lstStyle/>
          <a:p>
            <a:r>
              <a:rPr lang="tr-TR" dirty="0" err="1"/>
              <a:t>Kali</a:t>
            </a:r>
            <a:r>
              <a:rPr lang="tr-TR" dirty="0"/>
              <a:t> Linux, siber güvenlik ve </a:t>
            </a:r>
            <a:r>
              <a:rPr lang="tr-TR" dirty="0" err="1"/>
              <a:t>penetrasyon</a:t>
            </a:r>
            <a:r>
              <a:rPr lang="tr-TR" dirty="0"/>
              <a:t> testi gibi bilgisayar güvenliği alanlarında çalışan profesyoneller, etik </a:t>
            </a:r>
            <a:r>
              <a:rPr lang="tr-TR" dirty="0" err="1"/>
              <a:t>hackerlar</a:t>
            </a:r>
            <a:r>
              <a:rPr lang="tr-TR" dirty="0"/>
              <a:t> ve güvenlik uzmanları tarafından sıklıkla kullanılan bir işletim sistemidir. İşte </a:t>
            </a:r>
            <a:r>
              <a:rPr lang="tr-TR" dirty="0" err="1"/>
              <a:t>Kali</a:t>
            </a:r>
            <a:r>
              <a:rPr lang="tr-TR" dirty="0"/>
              <a:t> Linux'un neden bu kadar yaygın olarak tercih edildiğini açıklayan bazı ana nedenler:</a:t>
            </a:r>
          </a:p>
          <a:p>
            <a:endParaRPr lang="tr-T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Neden </a:t>
            </a:r>
            <a:r>
              <a:rPr lang="tr-TR" dirty="0" err="1"/>
              <a:t>Kali</a:t>
            </a:r>
            <a:r>
              <a:rPr lang="tr-TR" dirty="0"/>
              <a:t> Linux</a:t>
            </a:r>
          </a:p>
        </p:txBody>
      </p:sp>
      <p:sp>
        <p:nvSpPr>
          <p:cNvPr id="3" name="2 İçerik Yer Tutucusu"/>
          <p:cNvSpPr>
            <a:spLocks noGrp="1"/>
          </p:cNvSpPr>
          <p:nvPr>
            <p:ph idx="1"/>
          </p:nvPr>
        </p:nvSpPr>
        <p:spPr/>
        <p:txBody>
          <a:bodyPr>
            <a:noAutofit/>
          </a:bodyPr>
          <a:lstStyle/>
          <a:p>
            <a:r>
              <a:rPr lang="tr-TR" sz="1600" b="1" dirty="0"/>
              <a:t>Önceden Yüklenmiş Güvenlik Araçları:</a:t>
            </a:r>
            <a:r>
              <a:rPr lang="tr-TR" sz="1600" dirty="0"/>
              <a:t> </a:t>
            </a:r>
            <a:r>
              <a:rPr lang="tr-TR" sz="1600" dirty="0" err="1"/>
              <a:t>Kali</a:t>
            </a:r>
            <a:r>
              <a:rPr lang="tr-TR" sz="1600" dirty="0"/>
              <a:t> Linux, siber güvenlik testleri ve </a:t>
            </a:r>
            <a:r>
              <a:rPr lang="tr-TR" sz="1600" dirty="0" err="1"/>
              <a:t>penetrasyon</a:t>
            </a:r>
            <a:r>
              <a:rPr lang="tr-TR" sz="1600" dirty="0"/>
              <a:t> testleri için kullanılan bir dizi güvenlik aracını önceden yüklenmiş olarak içerir. Bu, güvenlik uzmanlarının ihtiyaç duydukları araçlara hızlıca erişim sağlar.</a:t>
            </a:r>
          </a:p>
          <a:p>
            <a:r>
              <a:rPr lang="tr-TR" sz="1600" b="1" dirty="0"/>
              <a:t>Açık Kaynak ve Ücretsiz:</a:t>
            </a:r>
            <a:r>
              <a:rPr lang="tr-TR" sz="1600" dirty="0"/>
              <a:t> </a:t>
            </a:r>
            <a:r>
              <a:rPr lang="tr-TR" sz="1600" dirty="0" err="1"/>
              <a:t>Kali</a:t>
            </a:r>
            <a:r>
              <a:rPr lang="tr-TR" sz="1600" dirty="0"/>
              <a:t> Linux, açık kaynak bir işletim sistemidir ve ücretsiz olarak indirilebilir ve kullanılabilir. Bu, siber güvenlik topluluğu içinde yaygın olarak benimsenmesine katkıda bulunur.</a:t>
            </a:r>
          </a:p>
          <a:p>
            <a:r>
              <a:rPr lang="tr-TR" sz="1600" b="1" dirty="0" err="1"/>
              <a:t>Penetrasyon</a:t>
            </a:r>
            <a:r>
              <a:rPr lang="tr-TR" sz="1600" b="1" dirty="0"/>
              <a:t> Testi ve Etik Hacker Eğitimi İçin Uygun:</a:t>
            </a:r>
            <a:r>
              <a:rPr lang="tr-TR" sz="1600" dirty="0"/>
              <a:t> </a:t>
            </a:r>
            <a:r>
              <a:rPr lang="tr-TR" sz="1600" dirty="0" err="1"/>
              <a:t>Kali</a:t>
            </a:r>
            <a:r>
              <a:rPr lang="tr-TR" sz="1600" dirty="0"/>
              <a:t> Linux'un odak noktası, </a:t>
            </a:r>
            <a:r>
              <a:rPr lang="tr-TR" sz="1600" dirty="0" err="1"/>
              <a:t>penetrasyon</a:t>
            </a:r>
            <a:r>
              <a:rPr lang="tr-TR" sz="1600" dirty="0"/>
              <a:t> testi ve etik hacker eğitimi gibi güvenlik alanlarına yöneliktir. Bu nedenle, bu tür faaliyetlerde kullanılmak üzere tasarlanmış birçok araca sahiptir.</a:t>
            </a:r>
          </a:p>
          <a:p>
            <a:r>
              <a:rPr lang="tr-TR" sz="1600" b="1" dirty="0"/>
              <a:t>Aktif Topluluk Desteği:</a:t>
            </a:r>
            <a:r>
              <a:rPr lang="tr-TR" sz="1600" dirty="0"/>
              <a:t> </a:t>
            </a:r>
            <a:r>
              <a:rPr lang="tr-TR" sz="1600" dirty="0" err="1"/>
              <a:t>Kali</a:t>
            </a:r>
            <a:r>
              <a:rPr lang="tr-TR" sz="1600" dirty="0"/>
              <a:t> Linux, geniş bir siber güvenlik topluluğu tarafından desteklenir ve geliştirilir. Bu, kullanıcıların sorunlarını çözmelerine ve bilgi paylaşmalarına yardımcı olan aktif bir destek ağı sağlar.</a:t>
            </a:r>
          </a:p>
          <a:p>
            <a:r>
              <a:rPr lang="tr-TR" sz="1600" b="1" dirty="0"/>
              <a:t>Kapsamlı Belgeler ve Eğitim Kaynakları:</a:t>
            </a:r>
            <a:r>
              <a:rPr lang="tr-TR" sz="1600" dirty="0"/>
              <a:t> </a:t>
            </a:r>
            <a:r>
              <a:rPr lang="tr-TR" sz="1600" dirty="0" err="1"/>
              <a:t>Kali</a:t>
            </a:r>
            <a:r>
              <a:rPr lang="tr-TR" sz="1600" dirty="0"/>
              <a:t> Linux, kullanıcılarına yönelik kapsamlı belgeler, eğitim kaynakları ve topluluk forumları sunar. Bu, yeni başlayanlar için öğrenme sürecini kolaylaştırır ve deneyimli kullanıcıların bilgilerini derinleştirmelerine yardımcı olur.</a:t>
            </a:r>
          </a:p>
          <a:p>
            <a:r>
              <a:rPr lang="tr-TR" sz="1600" b="1" dirty="0"/>
              <a:t>Taşınabilirlik ve Esneklik:</a:t>
            </a:r>
            <a:r>
              <a:rPr lang="tr-TR" sz="1600" dirty="0"/>
              <a:t> </a:t>
            </a:r>
            <a:r>
              <a:rPr lang="tr-TR" sz="1600" dirty="0" err="1"/>
              <a:t>Kali</a:t>
            </a:r>
            <a:r>
              <a:rPr lang="tr-TR" sz="1600" dirty="0"/>
              <a:t> Linux, USB sürücüler üzerine kurulabilir ve taşınabilir bir şekilde kullanılabilir. Bu özellik, güvenlik profesyonellerine farklı sistemlerde ve yerlerde güvenlik testleri yapma esnekliği sağlar.</a:t>
            </a:r>
          </a:p>
          <a:p>
            <a:r>
              <a:rPr lang="tr-TR" sz="1600" b="1" dirty="0"/>
              <a:t>Güncellenmiş Güvenlik Paketleri:</a:t>
            </a:r>
            <a:r>
              <a:rPr lang="tr-TR" sz="1600" dirty="0"/>
              <a:t> </a:t>
            </a:r>
            <a:r>
              <a:rPr lang="tr-TR" sz="1600" dirty="0" err="1"/>
              <a:t>Kali</a:t>
            </a:r>
            <a:r>
              <a:rPr lang="tr-TR" sz="1600" dirty="0"/>
              <a:t> Linux, güncellenmiş sürümleri ve güvenlik paketleri ile sürekli olarak güncellenir. Bu, kullanıcıların en son güvenlik araçlarına ve düzeltmelerine erişim sağlar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Neden </a:t>
            </a:r>
            <a:r>
              <a:rPr lang="tr-TR" dirty="0" err="1"/>
              <a:t>Kali</a:t>
            </a:r>
            <a:r>
              <a:rPr lang="tr-TR" dirty="0"/>
              <a:t> Linux</a:t>
            </a:r>
          </a:p>
        </p:txBody>
      </p:sp>
      <p:sp>
        <p:nvSpPr>
          <p:cNvPr id="3" name="2 İçerik Yer Tutucusu"/>
          <p:cNvSpPr>
            <a:spLocks noGrp="1"/>
          </p:cNvSpPr>
          <p:nvPr>
            <p:ph idx="1"/>
          </p:nvPr>
        </p:nvSpPr>
        <p:spPr/>
        <p:txBody>
          <a:bodyPr/>
          <a:lstStyle/>
          <a:p>
            <a:pPr algn="just"/>
            <a:r>
              <a:rPr lang="tr-TR" dirty="0"/>
              <a:t>Bu özellikler, </a:t>
            </a:r>
            <a:r>
              <a:rPr lang="tr-TR" dirty="0" err="1"/>
              <a:t>Kali</a:t>
            </a:r>
            <a:r>
              <a:rPr lang="tr-TR" dirty="0"/>
              <a:t> Linux'u siber güvenlik uzmanları ve etik </a:t>
            </a:r>
            <a:r>
              <a:rPr lang="tr-TR" dirty="0" err="1"/>
              <a:t>hackerlar</a:t>
            </a:r>
            <a:r>
              <a:rPr lang="tr-TR" dirty="0"/>
              <a:t> arasında tercih edilen bir işletim sistemi haline getirir. Ancak, </a:t>
            </a:r>
            <a:r>
              <a:rPr lang="tr-TR" dirty="0" err="1"/>
              <a:t>Kali</a:t>
            </a:r>
            <a:r>
              <a:rPr lang="tr-TR" dirty="0"/>
              <a:t> Linux'un sadece etik hacking ve güvenlik testleri amacıyla kullanılması önerilir; yasal ve etik normlara uymayan faaliyetlerde kullanmak yasa dışıdır.</a:t>
            </a:r>
          </a:p>
          <a:p>
            <a:endParaRPr lang="tr-T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err="1"/>
              <a:t>Kali</a:t>
            </a:r>
            <a:r>
              <a:rPr lang="tr-TR" dirty="0"/>
              <a:t> alternatifleri</a:t>
            </a:r>
          </a:p>
        </p:txBody>
      </p:sp>
      <p:sp>
        <p:nvSpPr>
          <p:cNvPr id="3" name="2 İçerik Yer Tutucusu"/>
          <p:cNvSpPr>
            <a:spLocks noGrp="1"/>
          </p:cNvSpPr>
          <p:nvPr>
            <p:ph idx="1"/>
          </p:nvPr>
        </p:nvSpPr>
        <p:spPr/>
        <p:txBody>
          <a:bodyPr>
            <a:normAutofit/>
          </a:bodyPr>
          <a:lstStyle/>
          <a:p>
            <a:pPr algn="just"/>
            <a:r>
              <a:rPr lang="tr-TR" dirty="0" err="1"/>
              <a:t>Kali</a:t>
            </a:r>
            <a:r>
              <a:rPr lang="tr-TR" dirty="0"/>
              <a:t> Linux'un siber güvenlik ve </a:t>
            </a:r>
            <a:r>
              <a:rPr lang="tr-TR" dirty="0" err="1"/>
              <a:t>penetrasyon</a:t>
            </a:r>
            <a:r>
              <a:rPr lang="tr-TR" dirty="0"/>
              <a:t> testi alanlarında öne çıkan özellikleri ile özelleşmiş bir işletim sistemi olduğunu bilmekte fayda var. Ancak, siber güvenlik veya bilgisayar güvenliği alanlarında çalışan kişiler için başka bazı alternatif işletim sistemleri de bulunmaktadır. İşte </a:t>
            </a:r>
            <a:r>
              <a:rPr lang="tr-TR" dirty="0" err="1"/>
              <a:t>Kali</a:t>
            </a:r>
            <a:r>
              <a:rPr lang="tr-TR" dirty="0"/>
              <a:t> Linux'un bazı alternatifleri:</a:t>
            </a:r>
          </a:p>
          <a:p>
            <a:endParaRPr lang="tr-T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err="1"/>
              <a:t>Kali</a:t>
            </a:r>
            <a:r>
              <a:rPr lang="tr-TR" dirty="0"/>
              <a:t> alternatifleri</a:t>
            </a:r>
          </a:p>
        </p:txBody>
      </p:sp>
      <p:sp>
        <p:nvSpPr>
          <p:cNvPr id="3" name="2 İçerik Yer Tutucusu"/>
          <p:cNvSpPr>
            <a:spLocks noGrp="1"/>
          </p:cNvSpPr>
          <p:nvPr>
            <p:ph idx="1"/>
          </p:nvPr>
        </p:nvSpPr>
        <p:spPr/>
        <p:txBody>
          <a:bodyPr>
            <a:normAutofit fontScale="25000" lnSpcReduction="20000"/>
          </a:bodyPr>
          <a:lstStyle/>
          <a:p>
            <a:r>
              <a:rPr lang="tr-TR" sz="7200" b="1" dirty="0" err="1"/>
              <a:t>Parrot</a:t>
            </a:r>
            <a:r>
              <a:rPr lang="tr-TR" sz="7200" b="1" dirty="0"/>
              <a:t> </a:t>
            </a:r>
            <a:r>
              <a:rPr lang="tr-TR" sz="7200" b="1" dirty="0" err="1"/>
              <a:t>Security</a:t>
            </a:r>
            <a:r>
              <a:rPr lang="tr-TR" sz="7200" b="1" dirty="0"/>
              <a:t> OS:</a:t>
            </a:r>
            <a:r>
              <a:rPr lang="tr-TR" sz="7200" dirty="0"/>
              <a:t> </a:t>
            </a:r>
            <a:r>
              <a:rPr lang="tr-TR" sz="7200" dirty="0" err="1"/>
              <a:t>Kali</a:t>
            </a:r>
            <a:r>
              <a:rPr lang="tr-TR" sz="7200" dirty="0"/>
              <a:t> Linux'a benzer şekilde, </a:t>
            </a:r>
            <a:r>
              <a:rPr lang="tr-TR" sz="7200" dirty="0" err="1"/>
              <a:t>Parrot</a:t>
            </a:r>
            <a:r>
              <a:rPr lang="tr-TR" sz="7200" dirty="0"/>
              <a:t> </a:t>
            </a:r>
            <a:r>
              <a:rPr lang="tr-TR" sz="7200" dirty="0" err="1"/>
              <a:t>Security</a:t>
            </a:r>
            <a:r>
              <a:rPr lang="tr-TR" sz="7200" dirty="0"/>
              <a:t> OS da siber güvenlik ve </a:t>
            </a:r>
            <a:r>
              <a:rPr lang="tr-TR" sz="7200" dirty="0" err="1"/>
              <a:t>penetrasyon</a:t>
            </a:r>
            <a:r>
              <a:rPr lang="tr-TR" sz="7200" dirty="0"/>
              <a:t> testi için tasarlanmıştır. Aynı zamanda hafif bir yapıya sahiptir ve kullanıcı dostu </a:t>
            </a:r>
            <a:r>
              <a:rPr lang="tr-TR" sz="7200" dirty="0" err="1"/>
              <a:t>arayüzüyle</a:t>
            </a:r>
            <a:r>
              <a:rPr lang="tr-TR" sz="7200" dirty="0"/>
              <a:t> dikkat çeker.</a:t>
            </a:r>
          </a:p>
          <a:p>
            <a:r>
              <a:rPr lang="tr-TR" sz="7200" b="1" dirty="0" err="1"/>
              <a:t>BlackArch</a:t>
            </a:r>
            <a:r>
              <a:rPr lang="tr-TR" sz="7200" b="1" dirty="0"/>
              <a:t> Linux:</a:t>
            </a:r>
            <a:r>
              <a:rPr lang="tr-TR" sz="7200" dirty="0"/>
              <a:t> </a:t>
            </a:r>
            <a:r>
              <a:rPr lang="tr-TR" sz="7200" dirty="0" err="1"/>
              <a:t>Arch</a:t>
            </a:r>
            <a:r>
              <a:rPr lang="tr-TR" sz="7200" dirty="0"/>
              <a:t> Linux tabanlı olan </a:t>
            </a:r>
            <a:r>
              <a:rPr lang="tr-TR" sz="7200" dirty="0" err="1"/>
              <a:t>BlackArch</a:t>
            </a:r>
            <a:r>
              <a:rPr lang="tr-TR" sz="7200" dirty="0"/>
              <a:t>, siber güvenlik araçları ile yüklü bir işletim sistemidir. </a:t>
            </a:r>
            <a:r>
              <a:rPr lang="tr-TR" sz="7200" dirty="0" err="1"/>
              <a:t>Arch</a:t>
            </a:r>
            <a:r>
              <a:rPr lang="tr-TR" sz="7200" dirty="0"/>
              <a:t> Linux'un esnekliği ve güncellenmiş paketleri üzerine inşa edilmiştir.</a:t>
            </a:r>
          </a:p>
          <a:p>
            <a:r>
              <a:rPr lang="tr-TR" sz="7200" b="1" dirty="0" err="1"/>
              <a:t>BackBox</a:t>
            </a:r>
            <a:r>
              <a:rPr lang="tr-TR" sz="7200" b="1" dirty="0"/>
              <a:t>:</a:t>
            </a:r>
            <a:r>
              <a:rPr lang="tr-TR" sz="7200" dirty="0"/>
              <a:t> </a:t>
            </a:r>
            <a:r>
              <a:rPr lang="tr-TR" sz="7200" dirty="0" err="1"/>
              <a:t>Ubuntu</a:t>
            </a:r>
            <a:r>
              <a:rPr lang="tr-TR" sz="7200" dirty="0"/>
              <a:t> tabanlı olan </a:t>
            </a:r>
            <a:r>
              <a:rPr lang="tr-TR" sz="7200" dirty="0" err="1"/>
              <a:t>BackBox</a:t>
            </a:r>
            <a:r>
              <a:rPr lang="tr-TR" sz="7200" dirty="0"/>
              <a:t>, siber güvenlik testleri ve </a:t>
            </a:r>
            <a:r>
              <a:rPr lang="tr-TR" sz="7200" dirty="0" err="1"/>
              <a:t>penetrasyon</a:t>
            </a:r>
            <a:r>
              <a:rPr lang="tr-TR" sz="7200" dirty="0"/>
              <a:t> testleri için kullanılan bir diğer alternatiftir. Kullanımı kolay bir </a:t>
            </a:r>
            <a:r>
              <a:rPr lang="tr-TR" sz="7200" dirty="0" err="1"/>
              <a:t>arayüze</a:t>
            </a:r>
            <a:r>
              <a:rPr lang="tr-TR" sz="7200" dirty="0"/>
              <a:t> sahiptir ve önceden yüklenmiş araçlar içerir.</a:t>
            </a:r>
          </a:p>
          <a:p>
            <a:r>
              <a:rPr lang="tr-TR" sz="7200" b="1" dirty="0" err="1"/>
              <a:t>ArchStrike</a:t>
            </a:r>
            <a:r>
              <a:rPr lang="tr-TR" sz="7200" b="1" dirty="0"/>
              <a:t>:</a:t>
            </a:r>
            <a:r>
              <a:rPr lang="tr-TR" sz="7200" dirty="0"/>
              <a:t> </a:t>
            </a:r>
            <a:r>
              <a:rPr lang="tr-TR" sz="7200" dirty="0" err="1"/>
              <a:t>Arch</a:t>
            </a:r>
            <a:r>
              <a:rPr lang="tr-TR" sz="7200" dirty="0"/>
              <a:t> Linux tabanlı olan </a:t>
            </a:r>
            <a:r>
              <a:rPr lang="tr-TR" sz="7200" dirty="0" err="1"/>
              <a:t>ArchStrike</a:t>
            </a:r>
            <a:r>
              <a:rPr lang="tr-TR" sz="7200" dirty="0"/>
              <a:t>, güvenlik testleri ve </a:t>
            </a:r>
            <a:r>
              <a:rPr lang="tr-TR" sz="7200" dirty="0" err="1"/>
              <a:t>penetrasyon</a:t>
            </a:r>
            <a:r>
              <a:rPr lang="tr-TR" sz="7200" dirty="0"/>
              <a:t> testi için tasarlanmış bir işletim sistemidir. </a:t>
            </a:r>
            <a:r>
              <a:rPr lang="tr-TR" sz="7200" dirty="0" err="1"/>
              <a:t>Arch</a:t>
            </a:r>
            <a:r>
              <a:rPr lang="tr-TR" sz="7200" dirty="0"/>
              <a:t> Linux'un esnekliği ve </a:t>
            </a:r>
            <a:r>
              <a:rPr lang="tr-TR" sz="7200" dirty="0" err="1"/>
              <a:t>rolling</a:t>
            </a:r>
            <a:r>
              <a:rPr lang="tr-TR" sz="7200" dirty="0"/>
              <a:t> </a:t>
            </a:r>
            <a:r>
              <a:rPr lang="tr-TR" sz="7200" dirty="0" err="1"/>
              <a:t>release</a:t>
            </a:r>
            <a:r>
              <a:rPr lang="tr-TR" sz="7200" dirty="0"/>
              <a:t> yapısıyla sürekli güncel kalır.</a:t>
            </a:r>
          </a:p>
          <a:p>
            <a:r>
              <a:rPr lang="tr-TR" sz="7200" b="1" dirty="0" err="1"/>
              <a:t>Sans</a:t>
            </a:r>
            <a:r>
              <a:rPr lang="tr-TR" sz="7200" b="1" dirty="0"/>
              <a:t> </a:t>
            </a:r>
            <a:r>
              <a:rPr lang="tr-TR" sz="7200" b="1" dirty="0" err="1"/>
              <a:t>Investigative</a:t>
            </a:r>
            <a:r>
              <a:rPr lang="tr-TR" sz="7200" b="1" dirty="0"/>
              <a:t> </a:t>
            </a:r>
            <a:r>
              <a:rPr lang="tr-TR" sz="7200" b="1" dirty="0" err="1"/>
              <a:t>Forensic</a:t>
            </a:r>
            <a:r>
              <a:rPr lang="tr-TR" sz="7200" b="1" dirty="0"/>
              <a:t> </a:t>
            </a:r>
            <a:r>
              <a:rPr lang="tr-TR" sz="7200" b="1" dirty="0" err="1"/>
              <a:t>Toolkit</a:t>
            </a:r>
            <a:r>
              <a:rPr lang="tr-TR" sz="7200" b="1" dirty="0"/>
              <a:t> (SIFT):</a:t>
            </a:r>
            <a:r>
              <a:rPr lang="tr-TR" sz="7200" dirty="0"/>
              <a:t> SANS Enstitüsü tarafından geliştirilen SIFT, dijital </a:t>
            </a:r>
            <a:r>
              <a:rPr lang="tr-TR" sz="7200" dirty="0" err="1"/>
              <a:t>forensik</a:t>
            </a:r>
            <a:r>
              <a:rPr lang="tr-TR" sz="7200" dirty="0"/>
              <a:t> ve olay yanıtı için optimize edilmiş bir işletim sistemidir.</a:t>
            </a:r>
          </a:p>
          <a:p>
            <a:r>
              <a:rPr lang="tr-TR" sz="7200" b="1" dirty="0" err="1"/>
              <a:t>Security</a:t>
            </a:r>
            <a:r>
              <a:rPr lang="tr-TR" sz="7200" b="1" dirty="0"/>
              <a:t> </a:t>
            </a:r>
            <a:r>
              <a:rPr lang="tr-TR" sz="7200" b="1" dirty="0" err="1"/>
              <a:t>Onion</a:t>
            </a:r>
            <a:r>
              <a:rPr lang="tr-TR" sz="7200" b="1" dirty="0"/>
              <a:t>:</a:t>
            </a:r>
            <a:r>
              <a:rPr lang="tr-TR" sz="7200" dirty="0"/>
              <a:t> </a:t>
            </a:r>
            <a:r>
              <a:rPr lang="tr-TR" sz="7200" dirty="0" err="1"/>
              <a:t>Security</a:t>
            </a:r>
            <a:r>
              <a:rPr lang="tr-TR" sz="7200" dirty="0"/>
              <a:t> </a:t>
            </a:r>
            <a:r>
              <a:rPr lang="tr-TR" sz="7200" dirty="0" err="1"/>
              <a:t>Onion</a:t>
            </a:r>
            <a:r>
              <a:rPr lang="tr-TR" sz="7200" dirty="0"/>
              <a:t>, ağ güvenliği, IDS (</a:t>
            </a:r>
            <a:r>
              <a:rPr lang="tr-TR" sz="7200" dirty="0" err="1"/>
              <a:t>Intrusion</a:t>
            </a:r>
            <a:r>
              <a:rPr lang="tr-TR" sz="7200" dirty="0"/>
              <a:t> </a:t>
            </a:r>
            <a:r>
              <a:rPr lang="tr-TR" sz="7200" dirty="0" err="1"/>
              <a:t>Detection</a:t>
            </a:r>
            <a:r>
              <a:rPr lang="tr-TR" sz="7200" dirty="0"/>
              <a:t> </a:t>
            </a:r>
            <a:r>
              <a:rPr lang="tr-TR" sz="7200" dirty="0" err="1"/>
              <a:t>System</a:t>
            </a:r>
            <a:r>
              <a:rPr lang="tr-TR" sz="7200" dirty="0"/>
              <a:t>), NSM (Network </a:t>
            </a:r>
            <a:r>
              <a:rPr lang="tr-TR" sz="7200" dirty="0" err="1"/>
              <a:t>Security</a:t>
            </a:r>
            <a:r>
              <a:rPr lang="tr-TR" sz="7200" dirty="0"/>
              <a:t> </a:t>
            </a:r>
            <a:r>
              <a:rPr lang="tr-TR" sz="7200" dirty="0" err="1"/>
              <a:t>Monitoring</a:t>
            </a:r>
            <a:r>
              <a:rPr lang="tr-TR" sz="7200" dirty="0"/>
              <a:t>) ve </a:t>
            </a:r>
            <a:r>
              <a:rPr lang="tr-TR" sz="7200" dirty="0" err="1"/>
              <a:t>log</a:t>
            </a:r>
            <a:r>
              <a:rPr lang="tr-TR" sz="7200" dirty="0"/>
              <a:t> yönetimi gibi özelliklere odaklanan bir Linux dağıtımıdır.</a:t>
            </a:r>
          </a:p>
          <a:p>
            <a:r>
              <a:rPr lang="tr-TR" sz="7200" b="1" dirty="0" err="1"/>
              <a:t>Whonix</a:t>
            </a:r>
            <a:r>
              <a:rPr lang="tr-TR" sz="7200" b="1" dirty="0"/>
              <a:t>:</a:t>
            </a:r>
            <a:r>
              <a:rPr lang="tr-TR" sz="7200" dirty="0"/>
              <a:t> </a:t>
            </a:r>
            <a:r>
              <a:rPr lang="tr-TR" sz="7200" dirty="0" err="1"/>
              <a:t>Whonix</a:t>
            </a:r>
            <a:r>
              <a:rPr lang="tr-TR" sz="7200" dirty="0"/>
              <a:t>, kullanıcının gizliliğini korumak ve anonim kalmasına yardımcı olmak için tasarlanmış bir işletim sistemidir. Tor ağı üzerinden internet trafiğini yönlendirir ve kullanıcıya izole bir çevre sunar.</a:t>
            </a:r>
          </a:p>
          <a:p>
            <a:endParaRPr lang="tr-T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err="1"/>
              <a:t>Kali</a:t>
            </a:r>
            <a:r>
              <a:rPr lang="tr-TR" dirty="0"/>
              <a:t> Kurulum</a:t>
            </a:r>
          </a:p>
        </p:txBody>
      </p:sp>
      <p:sp>
        <p:nvSpPr>
          <p:cNvPr id="3" name="2 İçerik Yer Tutucusu"/>
          <p:cNvSpPr>
            <a:spLocks noGrp="1"/>
          </p:cNvSpPr>
          <p:nvPr>
            <p:ph idx="1"/>
          </p:nvPr>
        </p:nvSpPr>
        <p:spPr/>
        <p:txBody>
          <a:bodyPr/>
          <a:lstStyle/>
          <a:p>
            <a:r>
              <a:rPr lang="tr-TR" dirty="0">
                <a:hlinkClick r:id="rId2"/>
              </a:rPr>
              <a:t>https://www.kali.org/</a:t>
            </a:r>
            <a:endParaRPr lang="tr-TR" dirty="0"/>
          </a:p>
          <a:p>
            <a:endParaRPr lang="tr-TR" dirty="0"/>
          </a:p>
          <a:p>
            <a:endParaRPr lang="tr-TR" dirty="0"/>
          </a:p>
        </p:txBody>
      </p:sp>
      <p:pic>
        <p:nvPicPr>
          <p:cNvPr id="6147" name="Picture 3"/>
          <p:cNvPicPr>
            <a:picLocks noChangeAspect="1" noChangeArrowheads="1"/>
          </p:cNvPicPr>
          <p:nvPr/>
        </p:nvPicPr>
        <p:blipFill>
          <a:blip r:embed="rId3"/>
          <a:srcRect/>
          <a:stretch>
            <a:fillRect/>
          </a:stretch>
        </p:blipFill>
        <p:spPr bwMode="auto">
          <a:xfrm>
            <a:off x="1000100" y="2500306"/>
            <a:ext cx="6989933" cy="3000396"/>
          </a:xfrm>
          <a:prstGeom prst="rect">
            <a:avLst/>
          </a:prstGeom>
          <a:noFill/>
          <a:ln w="9525">
            <a:noFill/>
            <a:miter lim="800000"/>
            <a:headEnd/>
            <a:tailEnd/>
          </a:ln>
          <a:effectLst/>
        </p:spPr>
      </p:pic>
      <p:sp>
        <p:nvSpPr>
          <p:cNvPr id="6" name="5 Oval"/>
          <p:cNvSpPr/>
          <p:nvPr/>
        </p:nvSpPr>
        <p:spPr>
          <a:xfrm>
            <a:off x="3786182" y="4000504"/>
            <a:ext cx="1928826" cy="2000264"/>
          </a:xfrm>
          <a:prstGeom prst="ellipse">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err="1"/>
              <a:t>Kali</a:t>
            </a:r>
            <a:r>
              <a:rPr lang="tr-TR" dirty="0"/>
              <a:t> Kurulum</a:t>
            </a:r>
          </a:p>
        </p:txBody>
      </p:sp>
      <p:pic>
        <p:nvPicPr>
          <p:cNvPr id="7170" name="Picture 2"/>
          <p:cNvPicPr>
            <a:picLocks noGrp="1" noChangeAspect="1" noChangeArrowheads="1"/>
          </p:cNvPicPr>
          <p:nvPr>
            <p:ph idx="1"/>
          </p:nvPr>
        </p:nvPicPr>
        <p:blipFill>
          <a:blip r:embed="rId2"/>
          <a:srcRect/>
          <a:stretch>
            <a:fillRect/>
          </a:stretch>
        </p:blipFill>
        <p:spPr bwMode="auto">
          <a:xfrm>
            <a:off x="457200" y="2110503"/>
            <a:ext cx="8229600" cy="3505356"/>
          </a:xfrm>
          <a:prstGeom prst="rect">
            <a:avLst/>
          </a:prstGeom>
          <a:noFill/>
          <a:ln w="9525">
            <a:noFill/>
            <a:miter lim="800000"/>
            <a:headEnd/>
            <a:tailEnd/>
          </a:ln>
          <a:effectLst/>
        </p:spPr>
      </p:pic>
      <p:sp>
        <p:nvSpPr>
          <p:cNvPr id="5" name="4 Oval"/>
          <p:cNvSpPr/>
          <p:nvPr/>
        </p:nvSpPr>
        <p:spPr>
          <a:xfrm>
            <a:off x="5572132" y="4500570"/>
            <a:ext cx="1928826" cy="1428760"/>
          </a:xfrm>
          <a:prstGeom prst="ellipse">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err="1"/>
              <a:t>Kali</a:t>
            </a:r>
            <a:r>
              <a:rPr lang="tr-TR" dirty="0"/>
              <a:t> Kurulum</a:t>
            </a:r>
          </a:p>
        </p:txBody>
      </p:sp>
      <p:pic>
        <p:nvPicPr>
          <p:cNvPr id="8194" name="Picture 2"/>
          <p:cNvPicPr>
            <a:picLocks noGrp="1" noChangeAspect="1" noChangeArrowheads="1"/>
          </p:cNvPicPr>
          <p:nvPr>
            <p:ph idx="1"/>
          </p:nvPr>
        </p:nvPicPr>
        <p:blipFill>
          <a:blip r:embed="rId2"/>
          <a:srcRect/>
          <a:stretch>
            <a:fillRect/>
          </a:stretch>
        </p:blipFill>
        <p:spPr bwMode="auto">
          <a:xfrm>
            <a:off x="457200" y="2523628"/>
            <a:ext cx="8229600" cy="2679107"/>
          </a:xfrm>
          <a:prstGeom prst="rect">
            <a:avLst/>
          </a:prstGeom>
          <a:noFill/>
          <a:ln w="9525">
            <a:noFill/>
            <a:miter lim="800000"/>
            <a:headEnd/>
            <a:tailEnd/>
          </a:ln>
          <a:effectLst/>
        </p:spPr>
      </p:pic>
      <p:sp>
        <p:nvSpPr>
          <p:cNvPr id="5" name="4 Oval"/>
          <p:cNvSpPr/>
          <p:nvPr/>
        </p:nvSpPr>
        <p:spPr>
          <a:xfrm>
            <a:off x="2428860" y="2928934"/>
            <a:ext cx="2286016" cy="2428892"/>
          </a:xfrm>
          <a:prstGeom prst="ellipse">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err="1"/>
              <a:t>VM’ye</a:t>
            </a:r>
            <a:r>
              <a:rPr lang="tr-TR" dirty="0"/>
              <a:t> </a:t>
            </a:r>
            <a:r>
              <a:rPr lang="tr-TR" dirty="0" err="1"/>
              <a:t>Kaliyi</a:t>
            </a:r>
            <a:r>
              <a:rPr lang="tr-TR" dirty="0"/>
              <a:t> Yüklemek</a:t>
            </a:r>
          </a:p>
        </p:txBody>
      </p:sp>
      <p:pic>
        <p:nvPicPr>
          <p:cNvPr id="10242" name="Picture 2"/>
          <p:cNvPicPr>
            <a:picLocks noGrp="1" noChangeAspect="1" noChangeArrowheads="1"/>
          </p:cNvPicPr>
          <p:nvPr>
            <p:ph idx="1"/>
          </p:nvPr>
        </p:nvPicPr>
        <p:blipFill>
          <a:blip r:embed="rId2"/>
          <a:srcRect/>
          <a:stretch>
            <a:fillRect/>
          </a:stretch>
        </p:blipFill>
        <p:spPr bwMode="auto">
          <a:xfrm>
            <a:off x="928662" y="2285992"/>
            <a:ext cx="7245973" cy="1857388"/>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endParaRPr lang="tr-TR"/>
          </a:p>
        </p:txBody>
      </p:sp>
      <p:pic>
        <p:nvPicPr>
          <p:cNvPr id="11266" name="Picture 2"/>
          <p:cNvPicPr>
            <a:picLocks noGrp="1" noChangeAspect="1" noChangeArrowheads="1"/>
          </p:cNvPicPr>
          <p:nvPr>
            <p:ph idx="1"/>
          </p:nvPr>
        </p:nvPicPr>
        <p:blipFill>
          <a:blip r:embed="rId2"/>
          <a:srcRect/>
          <a:stretch>
            <a:fillRect/>
          </a:stretch>
        </p:blipFill>
        <p:spPr bwMode="auto">
          <a:xfrm>
            <a:off x="785812" y="1748631"/>
            <a:ext cx="7572375" cy="4229100"/>
          </a:xfrm>
          <a:prstGeom prst="rect">
            <a:avLst/>
          </a:prstGeom>
          <a:noFill/>
          <a:ln w="9525">
            <a:noFill/>
            <a:miter lim="800000"/>
            <a:headEnd/>
            <a:tailEnd/>
          </a:ln>
          <a:effectLst/>
        </p:spPr>
      </p:pic>
      <p:sp>
        <p:nvSpPr>
          <p:cNvPr id="5" name="4 Oval"/>
          <p:cNvSpPr/>
          <p:nvPr/>
        </p:nvSpPr>
        <p:spPr>
          <a:xfrm>
            <a:off x="5000628" y="2071678"/>
            <a:ext cx="1214446" cy="928694"/>
          </a:xfrm>
          <a:prstGeom prst="ellipse">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endParaRPr lang="tr-TR"/>
          </a:p>
        </p:txBody>
      </p:sp>
      <p:pic>
        <p:nvPicPr>
          <p:cNvPr id="12290" name="Picture 2"/>
          <p:cNvPicPr>
            <a:picLocks noGrp="1" noChangeAspect="1" noChangeArrowheads="1"/>
          </p:cNvPicPr>
          <p:nvPr>
            <p:ph idx="1"/>
          </p:nvPr>
        </p:nvPicPr>
        <p:blipFill>
          <a:blip r:embed="rId2"/>
          <a:srcRect/>
          <a:stretch>
            <a:fillRect/>
          </a:stretch>
        </p:blipFill>
        <p:spPr bwMode="auto">
          <a:xfrm>
            <a:off x="1537379" y="1600200"/>
            <a:ext cx="6069242" cy="4525963"/>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endParaRPr lang="tr-TR"/>
          </a:p>
        </p:txBody>
      </p:sp>
      <p:sp>
        <p:nvSpPr>
          <p:cNvPr id="3" name="2 İçerik Yer Tutucusu"/>
          <p:cNvSpPr>
            <a:spLocks noGrp="1"/>
          </p:cNvSpPr>
          <p:nvPr>
            <p:ph idx="1"/>
          </p:nvPr>
        </p:nvSpPr>
        <p:spPr/>
        <p:txBody>
          <a:bodyPr/>
          <a:lstStyle/>
          <a:p>
            <a:r>
              <a:rPr lang="tr-TR" dirty="0"/>
              <a:t>Kullanıcı: </a:t>
            </a:r>
            <a:r>
              <a:rPr lang="tr-TR" dirty="0" err="1"/>
              <a:t>kali</a:t>
            </a:r>
            <a:endParaRPr lang="tr-TR" dirty="0"/>
          </a:p>
          <a:p>
            <a:r>
              <a:rPr lang="tr-TR" dirty="0"/>
              <a:t>Parola: </a:t>
            </a:r>
            <a:r>
              <a:rPr lang="tr-TR" dirty="0" err="1"/>
              <a:t>kali</a:t>
            </a:r>
            <a:endParaRPr lang="tr-TR" dirty="0"/>
          </a:p>
          <a:p>
            <a:r>
              <a:rPr lang="tr-TR" dirty="0"/>
              <a:t>Not: Klavye ENG klavye olduğundan “i” yazmak için TR </a:t>
            </a:r>
            <a:r>
              <a:rPr lang="tr-TR" dirty="0" err="1"/>
              <a:t>Kalvyeden</a:t>
            </a:r>
            <a:r>
              <a:rPr lang="tr-TR" dirty="0"/>
              <a:t> dolayı ortadaki “I” harfi küçük olarak kullanılır.</a:t>
            </a:r>
          </a:p>
        </p:txBody>
      </p:sp>
    </p:spTree>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119</TotalTime>
  <Words>938</Words>
  <Application>Microsoft Office PowerPoint</Application>
  <PresentationFormat>On-screen Show (4:3)</PresentationFormat>
  <Paragraphs>61</Paragraphs>
  <Slides>24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Wingdings</vt:lpstr>
      <vt:lpstr>Ofis Teması</vt:lpstr>
      <vt:lpstr>Siber Güvenlik</vt:lpstr>
      <vt:lpstr>Sanal makine nedir</vt:lpstr>
      <vt:lpstr>En yaygın sanal makineler</vt:lpstr>
      <vt:lpstr>Kullanacağımız VM</vt:lpstr>
      <vt:lpstr>Oracle VirtualBox kurulumu</vt:lpstr>
      <vt:lpstr>Oracle VirtualBox kurulumu</vt:lpstr>
      <vt:lpstr>Oracle VirtualBox kurulumu</vt:lpstr>
      <vt:lpstr>Oracle VirtualBox kurulumu</vt:lpstr>
      <vt:lpstr>Oracle VirtualBox kurulumu</vt:lpstr>
      <vt:lpstr>Oracle VirtualBox kurulumu</vt:lpstr>
      <vt:lpstr>Oracle VirtualBox kurulumu</vt:lpstr>
      <vt:lpstr>Oracle VirtualBox kurulumu</vt:lpstr>
      <vt:lpstr>Neden Kali Linux</vt:lpstr>
      <vt:lpstr>Neden Kali Linux</vt:lpstr>
      <vt:lpstr>Neden Kali Linux</vt:lpstr>
      <vt:lpstr>Kali alternatifleri</vt:lpstr>
      <vt:lpstr>Kali alternatifleri</vt:lpstr>
      <vt:lpstr>Kali Kurulum</vt:lpstr>
      <vt:lpstr>Kali Kurulum</vt:lpstr>
      <vt:lpstr>Kali Kurulum</vt:lpstr>
      <vt:lpstr>VM’ye Kaliyi Yüklemek</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Siber Güvenlik</dc:title>
  <dc:creator>musti</dc:creator>
  <cp:lastModifiedBy>Mustafa altıok</cp:lastModifiedBy>
  <cp:revision>12</cp:revision>
  <dcterms:created xsi:type="dcterms:W3CDTF">2024-02-15T09:56:46Z</dcterms:created>
  <dcterms:modified xsi:type="dcterms:W3CDTF">2024-10-02T06:32:56Z</dcterms:modified>
</cp:coreProperties>
</file>